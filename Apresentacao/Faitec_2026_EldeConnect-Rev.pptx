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8" r:id="rId4"/>
    <p:sldId id="265" r:id="rId5"/>
    <p:sldId id="267" r:id="rId6"/>
    <p:sldId id="266" r:id="rId7"/>
    <p:sldId id="264" r:id="rId8"/>
    <p:sldId id="263" r:id="rId9"/>
    <p:sldId id="269" r:id="rId10"/>
    <p:sldId id="270" r:id="rId11"/>
    <p:sldId id="271" r:id="rId12"/>
    <p:sldId id="262" r:id="rId13"/>
    <p:sldId id="261" r:id="rId14"/>
    <p:sldId id="260" r:id="rId15"/>
    <p:sldId id="272" r:id="rId16"/>
    <p:sldId id="258" r:id="rId17"/>
    <p:sldId id="273" r:id="rId18"/>
    <p:sldId id="274" r:id="rId19"/>
    <p:sldId id="259" r:id="rId20"/>
  </p:sldIdLst>
  <p:sldSz cx="24384000" cy="13716000"/>
  <p:notesSz cx="6858000" cy="9144000"/>
  <p:embeddedFontLst>
    <p:embeddedFont>
      <p:font typeface="Helvetica Neue Light" charset="0"/>
      <p:regular r:id="rId22"/>
      <p:bold r:id="rId23"/>
      <p:italic r:id="rId24"/>
      <p:boldItalic r:id="rId25"/>
    </p:embeddedFont>
    <p:embeddedFont>
      <p:font typeface="Helvetica Neue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gZ84KggsQfQCuyVjL79bhoOGuy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8" d="100"/>
          <a:sy n="38" d="100"/>
        </p:scale>
        <p:origin x="-516" y="-72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051573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">
  <p:cSld name="Título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tx">
  <p:cSld name="TITLE_AND_BODY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5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pic>
        <p:nvPicPr>
          <p:cNvPr id="7" name="Google Shape;7;p3" descr="FAI_Faitec_2026_Imagem_PowerPoint conteudo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ElderConnect0.3casouso.simp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DiagramasDePacoteBackend.simp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DiagramaDeClassesDeNegocio%20v.2.sim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DiagramaSequenciaLogin.simp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 descr="FAI_Faitec_2026_Imagem_PowerPoint capa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 txBox="1">
            <a:spLocks noGrp="1"/>
          </p:cNvSpPr>
          <p:nvPr>
            <p:ph type="subTitle" idx="1"/>
          </p:nvPr>
        </p:nvSpPr>
        <p:spPr>
          <a:xfrm>
            <a:off x="2110880" y="9234264"/>
            <a:ext cx="6610034" cy="304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35000" marR="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  <a:buFont typeface="Helvetica Neue"/>
              <a:buChar char="•"/>
            </a:pP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Elder Connect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/>
            </a:r>
            <a:b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Bruno Eduardo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José Alfredo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Marcela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Equipe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45" y="4409729"/>
            <a:ext cx="5400600" cy="62484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6336" y="4409729"/>
            <a:ext cx="5496910" cy="62397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544" y="4427209"/>
            <a:ext cx="5475165" cy="6230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8735616" y="2465512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/ OBJETIVO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8723784" y="4409728"/>
            <a:ext cx="13530509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O envelhecimento populacional </a:t>
            </a:r>
            <a:r>
              <a:rPr lang="pt-BR" sz="4800" b="1" dirty="0" smtClean="0"/>
              <a:t>aumentou.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Famílias </a:t>
            </a:r>
            <a:r>
              <a:rPr lang="pt-BR" sz="4800" b="1" dirty="0"/>
              <a:t>possuem dificuldade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em </a:t>
            </a:r>
            <a:r>
              <a:rPr lang="pt-BR" sz="4800" b="1" dirty="0"/>
              <a:t>encontrar </a:t>
            </a:r>
            <a:r>
              <a:rPr lang="pt-BR" sz="4800" b="1" dirty="0" smtClean="0"/>
              <a:t>cuidadores.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Elder Connect </a:t>
            </a:r>
            <a:r>
              <a:rPr lang="pt-BR" sz="4800" b="1" dirty="0"/>
              <a:t>surge para conectar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cuidadores </a:t>
            </a:r>
            <a:r>
              <a:rPr lang="pt-BR" sz="4800" b="1" dirty="0"/>
              <a:t>e responsáveis</a:t>
            </a:r>
            <a:r>
              <a:rPr lang="pt-BR" sz="4800" dirty="0"/>
              <a:t>.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04" y="2465512"/>
            <a:ext cx="6485894" cy="9937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37193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7439472" y="297337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E HIPÓTESE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3197437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Problema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4089038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Hipótese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23;p2"/>
          <p:cNvSpPr txBox="1"/>
          <p:nvPr/>
        </p:nvSpPr>
        <p:spPr>
          <a:xfrm>
            <a:off x="1318792" y="7896559"/>
            <a:ext cx="8379726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Dificuldade em encontrar </a:t>
            </a:r>
            <a:r>
              <a:rPr lang="pt-BR" sz="3600" dirty="0" smtClean="0"/>
              <a:t>cuidadores.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 smtClean="0"/>
              <a:t>Falta </a:t>
            </a:r>
            <a:r>
              <a:rPr lang="pt-BR" sz="3600" dirty="0"/>
              <a:t>de </a:t>
            </a:r>
            <a:r>
              <a:rPr lang="pt-BR" sz="3600" dirty="0" smtClean="0"/>
              <a:t>confiança.</a:t>
            </a:r>
          </a:p>
        </p:txBody>
      </p:sp>
      <p:sp>
        <p:nvSpPr>
          <p:cNvPr id="7" name="Google Shape;23;p2"/>
          <p:cNvSpPr txBox="1"/>
          <p:nvPr/>
        </p:nvSpPr>
        <p:spPr>
          <a:xfrm>
            <a:off x="12572742" y="7947855"/>
            <a:ext cx="8282740" cy="287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3600" dirty="0"/>
              <a:t>Um sistema web pode melhorar</a:t>
            </a:r>
            <a:r>
              <a:rPr lang="pt-BR" sz="3600" dirty="0" smtClean="0"/>
              <a:t>:</a:t>
            </a:r>
          </a:p>
          <a:p>
            <a:endParaRPr lang="pt-BR" sz="3600" dirty="0"/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Comunicação.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Contratação.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Organização do cuidado.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1548" y="2586167"/>
            <a:ext cx="2029952" cy="1736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Google Shape;23;p2"/>
          <p:cNvSpPr txBox="1"/>
          <p:nvPr/>
        </p:nvSpPr>
        <p:spPr>
          <a:xfrm>
            <a:off x="1318792" y="8937714"/>
            <a:ext cx="8379726" cy="656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Ausência de plataforma organizada.</a:t>
            </a:r>
            <a:endParaRPr lang="pt-BR" sz="3600" dirty="0" smtClean="0"/>
          </a:p>
        </p:txBody>
      </p:sp>
    </p:spTree>
    <p:extLst>
      <p:ext uri="{BB962C8B-B14F-4D97-AF65-F5344CB8AC3E}">
        <p14:creationId xmlns:p14="http://schemas.microsoft.com/office/powerpoint/2010/main" val="410410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OBJETIVOS DO PROJETO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343066" y="5489848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Desenvolver uma plataforma para facilitar</a:t>
            </a:r>
            <a:r>
              <a:rPr lang="pt-BR" sz="4800" b="1" dirty="0" smtClean="0"/>
              <a:t>:</a:t>
            </a:r>
          </a:p>
          <a:p>
            <a:endParaRPr lang="pt-BR" sz="4800" b="1" dirty="0"/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Conexão.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Gerenciamento.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Organização do cuidado.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4368" y="4202484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8958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3653" y="3355450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Objetivo geral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3653" y="5705872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Cadastro.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Busca.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Vínculo.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Medicamentos.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Comunicação.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44" y="4551388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6114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3911080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TECNOLOGIAS UTILIZADAS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 descr="C:\Users\Junior\Downloads\inteli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42" y="8970198"/>
            <a:ext cx="2419350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Junior\Downloads\java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276" y="5247722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Junior\Downloads\JAVA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74692" y="8701842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Junior\Downloads\JIRA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30" y="5506906"/>
            <a:ext cx="13525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Junior\Downloads\WORD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8680" y="5165491"/>
            <a:ext cx="17430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Junior\Downloads\WINDOWS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856" y="5028917"/>
            <a:ext cx="2016224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Junior\Downloads\GIT.png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20626" y="8864571"/>
            <a:ext cx="1619250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841" y="3185592"/>
            <a:ext cx="1296144" cy="1058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3" descr="C:\Users\Junior\Downloads\postgre (1).p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3242" y="5288384"/>
            <a:ext cx="2124075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C:\Users\Junior\Downloads\Angular_gradient_logo.png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854" y="8705005"/>
            <a:ext cx="2016225" cy="201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C:\Users\Junior\Downloads\vs code.png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4498" y="9030866"/>
            <a:ext cx="1270882" cy="127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062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METODOLOGIA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1995" y="5057800"/>
            <a:ext cx="18549281" cy="3057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Levantamento de requisitos.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Entrevistas.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Análise.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Modelagem.</a:t>
            </a:r>
          </a:p>
        </p:txBody>
      </p:sp>
      <p:pic>
        <p:nvPicPr>
          <p:cNvPr id="2051" name="Picture 3" descr="C:\Users\Junior\Downloads\check list (1)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2200" y="3862063"/>
            <a:ext cx="5396433" cy="638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129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91400" y="2927942"/>
            <a:ext cx="1094521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3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Acesso e </a:t>
            </a:r>
            <a:r>
              <a:rPr lang="pt-BR" sz="4800" b="1" dirty="0" smtClean="0"/>
              <a:t>Conta</a:t>
            </a:r>
          </a:p>
          <a:p>
            <a:endParaRPr lang="pt-BR" sz="4800" b="1" dirty="0"/>
          </a:p>
          <a:p>
            <a:r>
              <a:rPr lang="pt-BR" sz="4800" b="1" dirty="0"/>
              <a:t>RF 1 – Cadastrar usuário</a:t>
            </a:r>
          </a:p>
          <a:p>
            <a:r>
              <a:rPr lang="pt-BR" sz="4800" b="1" dirty="0"/>
              <a:t>RF 2 – Realizar </a:t>
            </a:r>
            <a:r>
              <a:rPr lang="pt-BR" sz="4800" b="1" dirty="0" err="1"/>
              <a:t>login</a:t>
            </a:r>
            <a:r>
              <a:rPr lang="pt-BR" sz="4800" b="1" dirty="0"/>
              <a:t> no sistema</a:t>
            </a:r>
          </a:p>
          <a:p>
            <a:r>
              <a:rPr lang="pt-BR" sz="4800" b="1" dirty="0"/>
              <a:t>RF 8 – Gerenciar perfil</a:t>
            </a:r>
          </a:p>
          <a:p>
            <a:r>
              <a:rPr lang="pt-BR" sz="4800" b="1" dirty="0"/>
              <a:t>RF 11 – </a:t>
            </a:r>
            <a:r>
              <a:rPr lang="pt-BR" sz="4800" b="1" dirty="0" err="1"/>
              <a:t>Logout</a:t>
            </a:r>
            <a:endParaRPr lang="pt-BR" sz="4800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6700" y="2649316"/>
            <a:ext cx="1472935" cy="14485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76830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33230" y="3018731"/>
            <a:ext cx="11579450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4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Cuidadores</a:t>
            </a:r>
          </a:p>
          <a:p>
            <a:endParaRPr lang="pt-BR" sz="4800" b="1" dirty="0"/>
          </a:p>
          <a:p>
            <a:r>
              <a:rPr lang="pt-BR" sz="4800" b="1" dirty="0"/>
              <a:t>RF 3 – Cadastrar perfil de cuidador</a:t>
            </a:r>
          </a:p>
          <a:p>
            <a:r>
              <a:rPr lang="pt-BR" sz="4800" b="1" dirty="0"/>
              <a:t>RF 4 – Buscar cuidadores</a:t>
            </a:r>
          </a:p>
          <a:p>
            <a:r>
              <a:rPr lang="pt-BR" sz="4800" b="1" dirty="0"/>
              <a:t>RF 5 – Visualizar perfil do cuidador</a:t>
            </a:r>
          </a:p>
          <a:p>
            <a:r>
              <a:rPr lang="pt-BR" sz="4800" b="1" dirty="0"/>
              <a:t>RF 6 – Avaliar cuidador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096" y="2777348"/>
            <a:ext cx="1440160" cy="14163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7113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685572" y="3056504"/>
            <a:ext cx="1241919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43380" y="4553744"/>
            <a:ext cx="18549281" cy="6750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Relacionamento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9 – Vincular cuidador ao idoso</a:t>
            </a:r>
          </a:p>
          <a:p>
            <a:r>
              <a:rPr lang="pt-BR" sz="4800" b="1" dirty="0"/>
              <a:t>RF 12 – Finalizar vínculo / contrato entre cuidador e </a:t>
            </a:r>
            <a:r>
              <a:rPr lang="pt-BR" sz="4800" b="1" dirty="0" smtClean="0"/>
              <a:t>idoso</a:t>
            </a:r>
            <a:br>
              <a:rPr lang="pt-BR" sz="4800" b="1" dirty="0" smtClean="0"/>
            </a:br>
            <a:r>
              <a:rPr lang="pt-BR" sz="4800" b="1" dirty="0" smtClean="0"/>
              <a:t/>
            </a:r>
            <a:br>
              <a:rPr lang="pt-BR" sz="4800" b="1" dirty="0" smtClean="0"/>
            </a:br>
            <a:r>
              <a:rPr lang="pt-BR" sz="4800" b="1" dirty="0"/>
              <a:t>Módulo – Gestão de </a:t>
            </a:r>
            <a:r>
              <a:rPr lang="pt-BR" sz="4800" b="1" dirty="0" smtClean="0"/>
              <a:t>Saúde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10 – Gerenciar medicamentos</a:t>
            </a:r>
          </a:p>
          <a:p>
            <a:endParaRPr lang="pt-BR" sz="4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0783" y="2681537"/>
            <a:ext cx="1432172" cy="1408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3043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322377" y="2635877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LEI GERAL DE PROTEÇÃO DE DADOS (LGPD)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91994" y="4020447"/>
            <a:ext cx="18549281" cy="1579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dirty="0"/>
              <a:t>POLÍTICA E MECANISMOS DE CONFORMIDADE COM A LGPD (LEI Nº 13.709/2018)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23;p2"/>
          <p:cNvSpPr txBox="1"/>
          <p:nvPr/>
        </p:nvSpPr>
        <p:spPr>
          <a:xfrm>
            <a:off x="1291995" y="5615280"/>
            <a:ext cx="18549281" cy="6750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Consentimento Explícito (</a:t>
            </a:r>
            <a:r>
              <a:rPr lang="pt-BR" sz="4800" dirty="0" err="1"/>
              <a:t>Opt-in</a:t>
            </a:r>
            <a:r>
              <a:rPr lang="pt-BR" sz="4800" dirty="0" smtClean="0"/>
              <a:t>):</a:t>
            </a:r>
          </a:p>
          <a:p>
            <a:endParaRPr lang="pt-BR" sz="4800" dirty="0"/>
          </a:p>
          <a:p>
            <a:pPr algn="just"/>
            <a:r>
              <a:rPr lang="pt-BR" sz="4800" dirty="0" smtClean="0"/>
              <a:t>	No </a:t>
            </a:r>
            <a:r>
              <a:rPr lang="pt-BR" sz="4800" dirty="0"/>
              <a:t>momento do cadastro do usuário (seja responsável ou </a:t>
            </a:r>
            <a:r>
              <a:rPr lang="pt-BR" sz="4800" dirty="0" smtClean="0"/>
              <a:t>	cuidador</a:t>
            </a:r>
            <a:r>
              <a:rPr lang="pt-BR" sz="4800" dirty="0"/>
              <a:t>), haverá uma caixa de seleção obrigatória desmarcada </a:t>
            </a:r>
            <a:r>
              <a:rPr lang="pt-BR" sz="4800" dirty="0" smtClean="0"/>
              <a:t>	por </a:t>
            </a:r>
            <a:r>
              <a:rPr lang="pt-BR" sz="4800" dirty="0"/>
              <a:t>padrão, onde o usuário aceita explicitamente os Termos de </a:t>
            </a:r>
            <a:r>
              <a:rPr lang="pt-BR" sz="4800" dirty="0" smtClean="0"/>
              <a:t>	Uso </a:t>
            </a:r>
            <a:r>
              <a:rPr lang="pt-BR" sz="4800" dirty="0"/>
              <a:t>e a Política de Privacidade. O texto deixará claro que os </a:t>
            </a:r>
            <a:r>
              <a:rPr lang="pt-BR" sz="4800" dirty="0" smtClean="0"/>
              <a:t>	dados </a:t>
            </a:r>
            <a:r>
              <a:rPr lang="pt-BR" sz="4800" dirty="0"/>
              <a:t>de saúde do idoso (como prontuário de medicamentos) </a:t>
            </a:r>
            <a:r>
              <a:rPr lang="pt-BR" sz="4800" dirty="0" smtClean="0"/>
              <a:t>	serão </a:t>
            </a:r>
            <a:r>
              <a:rPr lang="pt-BR" sz="4800" dirty="0"/>
              <a:t>visualizados exclusivamente pelo cuidador formalmente </a:t>
            </a:r>
            <a:r>
              <a:rPr lang="pt-BR" sz="4800" dirty="0" smtClean="0"/>
              <a:t>	vinculado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4022999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88842" y="3689648"/>
            <a:ext cx="18549281" cy="6011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 err="1"/>
              <a:t>Anonimização</a:t>
            </a:r>
            <a:r>
              <a:rPr lang="pt-BR" sz="4800" dirty="0"/>
              <a:t> e Minimização de Dados</a:t>
            </a:r>
            <a:r>
              <a:rPr lang="pt-BR" sz="4800" dirty="0" smtClean="0"/>
              <a:t>:</a:t>
            </a:r>
            <a:br>
              <a:rPr lang="pt-BR" sz="4800" dirty="0" smtClean="0"/>
            </a:br>
            <a:endParaRPr lang="pt-BR" sz="4800" dirty="0"/>
          </a:p>
          <a:p>
            <a:pPr algn="just"/>
            <a:r>
              <a:rPr lang="pt-BR" sz="4800" dirty="0" smtClean="0"/>
              <a:t>	Serão </a:t>
            </a:r>
            <a:r>
              <a:rPr lang="pt-BR" sz="4800" dirty="0"/>
              <a:t>coletados estritamente os dados necessários para o </a:t>
            </a:r>
            <a:r>
              <a:rPr lang="pt-BR" sz="4800" dirty="0" smtClean="0"/>
              <a:t>	funcionamento </a:t>
            </a:r>
            <a:r>
              <a:rPr lang="pt-BR" sz="4800" dirty="0"/>
              <a:t>do negócio. Dados de contato direto (como </a:t>
            </a:r>
            <a:r>
              <a:rPr lang="pt-BR" sz="4800" dirty="0" smtClean="0"/>
              <a:t>	telefone </a:t>
            </a:r>
            <a:r>
              <a:rPr lang="pt-BR" sz="4800" dirty="0"/>
              <a:t>e endereço exato) do cuidador e do familiar </a:t>
            </a:r>
            <a:r>
              <a:rPr lang="pt-BR" sz="4800" dirty="0" smtClean="0"/>
              <a:t>	permanecerão </a:t>
            </a:r>
            <a:r>
              <a:rPr lang="pt-BR" sz="4800" dirty="0"/>
              <a:t>ocultos durante a busca inicial na plataforma, </a:t>
            </a:r>
            <a:r>
              <a:rPr lang="pt-BR" sz="4800" dirty="0" smtClean="0"/>
              <a:t>	sendo </a:t>
            </a:r>
            <a:r>
              <a:rPr lang="pt-BR" sz="4800" dirty="0"/>
              <a:t>liberados somente após a abertura do canal de </a:t>
            </a:r>
            <a:r>
              <a:rPr lang="pt-BR" sz="4800" dirty="0" smtClean="0"/>
              <a:t>me	</a:t>
            </a:r>
            <a:r>
              <a:rPr lang="pt-BR" sz="4800" dirty="0" err="1" smtClean="0"/>
              <a:t>nsagens</a:t>
            </a:r>
            <a:r>
              <a:rPr lang="pt-BR" sz="4800" dirty="0" smtClean="0"/>
              <a:t> </a:t>
            </a:r>
            <a:r>
              <a:rPr lang="pt-BR" sz="4800" dirty="0"/>
              <a:t>interna ou aceite mútuo de contratação. </a:t>
            </a:r>
          </a:p>
        </p:txBody>
      </p:sp>
    </p:spTree>
    <p:extLst>
      <p:ext uri="{BB962C8B-B14F-4D97-AF65-F5344CB8AC3E}">
        <p14:creationId xmlns:p14="http://schemas.microsoft.com/office/powerpoint/2010/main" val="1503781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8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Direito de Exclusão e Revogação (Direito ao Esquecimento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 smtClean="0"/>
              <a:t>	Através </a:t>
            </a:r>
            <a:r>
              <a:rPr lang="pt-BR" sz="4800" dirty="0"/>
              <a:t>do caso de uso "Gerenciar Perfil", o usuário poderá </a:t>
            </a:r>
            <a:r>
              <a:rPr lang="pt-BR" sz="4800" dirty="0" smtClean="0"/>
              <a:t>	solicitar </a:t>
            </a:r>
            <a:r>
              <a:rPr lang="pt-BR" sz="4800" dirty="0"/>
              <a:t>a exclusão definitiva de sua conta. Ao confirmar a </a:t>
            </a:r>
            <a:r>
              <a:rPr lang="pt-BR" sz="4800" dirty="0" smtClean="0"/>
              <a:t>	exclusão</a:t>
            </a:r>
            <a:r>
              <a:rPr lang="pt-BR" sz="4800" dirty="0"/>
              <a:t>, o sistema executará uma rotina no banco </a:t>
            </a:r>
            <a:r>
              <a:rPr lang="pt-BR" sz="4800" dirty="0" err="1"/>
              <a:t>PostgreSQL</a:t>
            </a:r>
            <a:r>
              <a:rPr lang="pt-BR" sz="4800" dirty="0"/>
              <a:t> </a:t>
            </a:r>
            <a:r>
              <a:rPr lang="pt-BR" sz="4800" dirty="0" smtClean="0"/>
              <a:t>	que </a:t>
            </a:r>
            <a:r>
              <a:rPr lang="pt-BR" sz="4800" dirty="0"/>
              <a:t>apagará logicamente (e fisicamente após 30 dias</a:t>
            </a:r>
            <a:r>
              <a:rPr lang="pt-BR" sz="4800" dirty="0" smtClean="0"/>
              <a:t>).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3488047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9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Segurança dos Dados de Saúde (Dados Sensíveis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 smtClean="0"/>
              <a:t>	O </a:t>
            </a:r>
            <a:r>
              <a:rPr lang="pt-BR" sz="4800" dirty="0"/>
              <a:t>registro de medicamentos (nome, dose e frequência) é </a:t>
            </a:r>
            <a:r>
              <a:rPr lang="pt-BR" sz="4800" dirty="0" smtClean="0"/>
              <a:t>	classificado </a:t>
            </a:r>
            <a:r>
              <a:rPr lang="pt-BR" sz="4800" dirty="0"/>
              <a:t>juridicamente como dado de saúde (sensível). </a:t>
            </a:r>
            <a:r>
              <a:rPr lang="pt-BR" sz="4800" dirty="0" smtClean="0"/>
              <a:t>	Esses </a:t>
            </a:r>
            <a:r>
              <a:rPr lang="pt-BR" sz="4800" dirty="0"/>
              <a:t>registros trafegarão sob criptografia e sua persistência no </a:t>
            </a:r>
            <a:r>
              <a:rPr lang="pt-BR" sz="4800" dirty="0" smtClean="0"/>
              <a:t>	banco </a:t>
            </a:r>
            <a:r>
              <a:rPr lang="pt-BR" sz="4800" dirty="0"/>
              <a:t>contará com controle de acesso rígido.</a:t>
            </a:r>
          </a:p>
        </p:txBody>
      </p:sp>
    </p:spTree>
    <p:extLst>
      <p:ext uri="{BB962C8B-B14F-4D97-AF65-F5344CB8AC3E}">
        <p14:creationId xmlns:p14="http://schemas.microsoft.com/office/powerpoint/2010/main" val="3743999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3942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 action="ppaction://hlinkfile"/>
              </a:rPr>
              <a:t>DIAGRAMA DE CASO DE USO</a:t>
            </a:r>
            <a:endParaRPr lang="pt-BR" sz="5400" b="1" i="0" u="none" strike="noStrike" cap="none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765008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 action="ppaction://hlinkfile"/>
              </a:rPr>
              <a:t>DIAGRAMA DE PACOTE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02178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3942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 action="ppaction://hlinkfile"/>
              </a:rPr>
              <a:t>DIAGRAMA DE CLASSES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7724611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 action="ppaction://hlinkfile"/>
              </a:rPr>
              <a:t>DIAGRAMA DE SEQUÊNCIA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99598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318792" y="3523298"/>
            <a:ext cx="1241919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Apresentação </a:t>
            </a:r>
            <a:r>
              <a:rPr lang="pt-BR" sz="5400" b="1" dirty="0" err="1"/>
              <a:t>backend</a:t>
            </a:r>
            <a:r>
              <a:rPr lang="pt-BR" sz="5400" b="1" dirty="0"/>
              <a:t> e </a:t>
            </a:r>
            <a:r>
              <a:rPr lang="pt-BR" sz="5400" b="1" dirty="0" err="1"/>
              <a:t>frontend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61141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r>
              <a:rPr lang="en-US" sz="5400" b="1" i="0" u="none" strike="noStrike" cap="none" dirty="0" smtClean="0">
                <a:solidFill>
                  <a:srgbClr val="000000"/>
                </a:solidFill>
                <a:latin typeface="+mj-lt"/>
                <a:ea typeface="Helvetica Neue"/>
                <a:cs typeface="Helvetica Neue"/>
                <a:sym typeface="Helvetica Neue"/>
              </a:rPr>
              <a:t>Obrigado</a:t>
            </a:r>
            <a:endParaRPr sz="5400" b="1" i="0" u="none" strike="noStrike" cap="none" dirty="0">
              <a:solidFill>
                <a:srgbClr val="000000"/>
              </a:solidFill>
              <a:latin typeface="+mj-lt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17402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1708</TotalTime>
  <Words>239</Words>
  <Application>Microsoft Office PowerPoint</Application>
  <PresentationFormat>Personalizar</PresentationFormat>
  <Paragraphs>80</Paragraphs>
  <Slides>19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3" baseType="lpstr">
      <vt:lpstr>Arial</vt:lpstr>
      <vt:lpstr>Helvetica Neue Light</vt:lpstr>
      <vt:lpstr>Helvetica Neue</vt:lpstr>
      <vt:lpstr>White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Junior</cp:lastModifiedBy>
  <cp:revision>18</cp:revision>
  <dcterms:modified xsi:type="dcterms:W3CDTF">2026-09-17T22:35:08Z</dcterms:modified>
</cp:coreProperties>
</file>