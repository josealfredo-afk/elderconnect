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8" r:id="rId4"/>
    <p:sldId id="265" r:id="rId5"/>
    <p:sldId id="267" r:id="rId6"/>
    <p:sldId id="266" r:id="rId7"/>
    <p:sldId id="264" r:id="rId8"/>
    <p:sldId id="263" r:id="rId9"/>
    <p:sldId id="269" r:id="rId10"/>
    <p:sldId id="270" r:id="rId11"/>
    <p:sldId id="271" r:id="rId12"/>
    <p:sldId id="262" r:id="rId13"/>
    <p:sldId id="261" r:id="rId14"/>
    <p:sldId id="260" r:id="rId15"/>
    <p:sldId id="272" r:id="rId16"/>
    <p:sldId id="258" r:id="rId17"/>
    <p:sldId id="273" r:id="rId18"/>
    <p:sldId id="274" r:id="rId19"/>
    <p:sldId id="259" r:id="rId20"/>
  </p:sldIdLst>
  <p:sldSz cx="24384000" cy="13716000"/>
  <p:notesSz cx="6858000" cy="9144000"/>
  <p:embeddedFontLst>
    <p:embeddedFont>
      <p:font typeface="Helvetica Neue Light" charset="0"/>
      <p:regular r:id="rId22"/>
      <p:bold r:id="rId23"/>
      <p:italic r:id="rId24"/>
      <p:boldItalic r:id="rId25"/>
    </p:embeddedFont>
    <p:embeddedFont>
      <p:font typeface="Helvetica Neue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Z84KggsQfQCuyVjL79bhoOGu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8" d="100"/>
          <a:sy n="38" d="100"/>
        </p:scale>
        <p:origin x="-516" y="-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0515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pic>
        <p:nvPicPr>
          <p:cNvPr id="7" name="Google Shape;7;p3" descr="FAI_Faitec_2026_Imagem_PowerPoint conteud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FAI_Faitec_2026_Imagem_PowerPoint cap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>
            <a:spLocks noGrp="1"/>
          </p:cNvSpPr>
          <p:nvPr>
            <p:ph type="subTitle" idx="1"/>
          </p:nvPr>
        </p:nvSpPr>
        <p:spPr>
          <a:xfrm>
            <a:off x="2110880" y="9234264"/>
            <a:ext cx="6610034" cy="304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marR="0" lvl="0" indent="-635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  <a:buFont typeface="Helvetica Neue"/>
              <a:buChar char="•"/>
            </a:pPr>
            <a:r>
              <a:rPr lang="en-US" sz="4300" dirty="0" smtClean="0">
                <a:latin typeface="Helvetica Neue"/>
                <a:ea typeface="Helvetica Neue"/>
                <a:cs typeface="Helvetica Neue"/>
                <a:sym typeface="Helvetica Neue"/>
              </a:rPr>
              <a:t>Elder Connect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r>
              <a:rPr lang="en-US" sz="43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43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4300" dirty="0" smtClean="0">
                <a:latin typeface="Helvetica Neue"/>
                <a:ea typeface="Helvetica Neue"/>
                <a:cs typeface="Helvetica Neue"/>
                <a:sym typeface="Helvetica Neue"/>
              </a:rPr>
              <a:t>Bruno Eduardo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r>
              <a:rPr lang="en-US" sz="4300" dirty="0" smtClean="0">
                <a:latin typeface="Helvetica Neue"/>
                <a:sym typeface="Helvetica Neue"/>
              </a:rPr>
              <a:t>José Alfredo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5"/>
            </a:pPr>
            <a:r>
              <a:rPr lang="en-US" sz="4300" dirty="0" smtClean="0">
                <a:latin typeface="Helvetica Neue"/>
                <a:sym typeface="Helvetica Neue"/>
              </a:rPr>
              <a:t>Marcela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91996" y="3033772"/>
            <a:ext cx="18549281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4800" b="1" dirty="0"/>
              <a:t>Equipe</a:t>
            </a:r>
            <a:endParaRPr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45" y="4409729"/>
            <a:ext cx="5400600" cy="6248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6336" y="4409729"/>
            <a:ext cx="5496910" cy="6239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544" y="4427209"/>
            <a:ext cx="5475165" cy="623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8735616" y="2465512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/>
              <a:t>PROBLEMA </a:t>
            </a:r>
            <a:r>
              <a:rPr lang="pt-BR" sz="5400" b="1" dirty="0" smtClean="0"/>
              <a:t>/ OBJETIVO</a:t>
            </a:r>
            <a:endParaRPr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8723784" y="4409728"/>
            <a:ext cx="13530509" cy="52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lvl="0" indent="-685800">
              <a:buSzPts val="4800"/>
              <a:buFont typeface="Arial" pitchFamily="34" charset="0"/>
              <a:buChar char="•"/>
            </a:pPr>
            <a:r>
              <a:rPr lang="pt-BR" sz="4800" b="1" dirty="0"/>
              <a:t>O envelhecimento populacional </a:t>
            </a:r>
            <a:r>
              <a:rPr lang="pt-BR" sz="4800" b="1" dirty="0" smtClean="0"/>
              <a:t>aumentou.</a:t>
            </a:r>
          </a:p>
          <a:p>
            <a:pPr lvl="0">
              <a:buSzPts val="4800"/>
            </a:pPr>
            <a:endParaRPr lang="pt-BR" sz="4800" b="1" dirty="0"/>
          </a:p>
          <a:p>
            <a:pPr marL="685800" lvl="0" indent="-685800">
              <a:buSzPts val="4800"/>
              <a:buFont typeface="Arial" pitchFamily="34" charset="0"/>
              <a:buChar char="•"/>
            </a:pPr>
            <a:r>
              <a:rPr lang="pt-BR" sz="4800" b="1" dirty="0" smtClean="0"/>
              <a:t>Famílias </a:t>
            </a:r>
            <a:r>
              <a:rPr lang="pt-BR" sz="4800" b="1" dirty="0"/>
              <a:t>possuem dificuldade </a:t>
            </a:r>
            <a:endParaRPr lang="pt-BR" sz="4800" b="1" dirty="0" smtClean="0"/>
          </a:p>
          <a:p>
            <a:pPr lvl="0">
              <a:buSzPts val="4800"/>
            </a:pPr>
            <a:r>
              <a:rPr lang="pt-BR" sz="4800" b="1" dirty="0" smtClean="0"/>
              <a:t>em </a:t>
            </a:r>
            <a:r>
              <a:rPr lang="pt-BR" sz="4800" b="1" dirty="0"/>
              <a:t>encontrar </a:t>
            </a:r>
            <a:r>
              <a:rPr lang="pt-BR" sz="4800" b="1" dirty="0" smtClean="0"/>
              <a:t>cuidadores.</a:t>
            </a:r>
          </a:p>
          <a:p>
            <a:pPr lvl="0">
              <a:buSzPts val="4800"/>
            </a:pPr>
            <a:endParaRPr lang="pt-BR" sz="4800" b="1" dirty="0"/>
          </a:p>
          <a:p>
            <a:pPr marL="685800" lvl="0" indent="-685800">
              <a:buSzPts val="4800"/>
              <a:buFont typeface="Arial" pitchFamily="34" charset="0"/>
              <a:buChar char="•"/>
            </a:pPr>
            <a:r>
              <a:rPr lang="pt-BR" sz="4800" b="1" dirty="0" smtClean="0"/>
              <a:t>Elder Connect </a:t>
            </a:r>
            <a:r>
              <a:rPr lang="pt-BR" sz="4800" b="1" dirty="0"/>
              <a:t>surge para conectar </a:t>
            </a:r>
            <a:endParaRPr lang="pt-BR" sz="4800" b="1" dirty="0" smtClean="0"/>
          </a:p>
          <a:p>
            <a:pPr lvl="0">
              <a:buSzPts val="4800"/>
            </a:pPr>
            <a:r>
              <a:rPr lang="pt-BR" sz="4800" b="1" dirty="0" smtClean="0"/>
              <a:t>cuidadores </a:t>
            </a:r>
            <a:r>
              <a:rPr lang="pt-BR" sz="4800" b="1" dirty="0"/>
              <a:t>e responsáveis</a:t>
            </a:r>
            <a:r>
              <a:rPr lang="pt-BR" sz="4800" dirty="0"/>
              <a:t>.</a:t>
            </a:r>
            <a:endParaRPr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04" y="2465512"/>
            <a:ext cx="6485894" cy="993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719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p2"/>
          <p:cNvSpPr txBox="1"/>
          <p:nvPr/>
        </p:nvSpPr>
        <p:spPr>
          <a:xfrm>
            <a:off x="7439472" y="2973378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/>
              <a:t>PROBLEMA </a:t>
            </a:r>
            <a:r>
              <a:rPr lang="pt-BR" sz="5400" b="1" dirty="0" smtClean="0"/>
              <a:t>E HIPÓTESE</a:t>
            </a:r>
            <a:endParaRPr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3197437" y="6016744"/>
            <a:ext cx="5250147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4800" b="1" dirty="0" smtClean="0"/>
              <a:t>Problema</a:t>
            </a:r>
            <a:endParaRPr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23;p2"/>
          <p:cNvSpPr txBox="1"/>
          <p:nvPr/>
        </p:nvSpPr>
        <p:spPr>
          <a:xfrm>
            <a:off x="14089038" y="6016744"/>
            <a:ext cx="5250147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4800" b="1" dirty="0" smtClean="0"/>
              <a:t>Hipótese</a:t>
            </a:r>
            <a:endParaRPr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23;p2"/>
          <p:cNvSpPr txBox="1"/>
          <p:nvPr/>
        </p:nvSpPr>
        <p:spPr>
          <a:xfrm>
            <a:off x="1318792" y="7896559"/>
            <a:ext cx="8379726" cy="1210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pt-BR" sz="3600" dirty="0"/>
              <a:t>Dificuldade em encontrar </a:t>
            </a:r>
            <a:r>
              <a:rPr lang="pt-BR" sz="3600" dirty="0" smtClean="0"/>
              <a:t>cuidadores.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pt-BR" sz="3600" dirty="0" smtClean="0"/>
              <a:t>Falta </a:t>
            </a:r>
            <a:r>
              <a:rPr lang="pt-BR" sz="3600" dirty="0"/>
              <a:t>de </a:t>
            </a:r>
            <a:r>
              <a:rPr lang="pt-BR" sz="3600" dirty="0" smtClean="0"/>
              <a:t>confiança.</a:t>
            </a:r>
          </a:p>
        </p:txBody>
      </p:sp>
      <p:sp>
        <p:nvSpPr>
          <p:cNvPr id="7" name="Google Shape;23;p2"/>
          <p:cNvSpPr txBox="1"/>
          <p:nvPr/>
        </p:nvSpPr>
        <p:spPr>
          <a:xfrm>
            <a:off x="12572742" y="7947855"/>
            <a:ext cx="8282740" cy="287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3600" dirty="0"/>
              <a:t>Um sistema web pode melhorar</a:t>
            </a:r>
            <a:r>
              <a:rPr lang="pt-BR" sz="3600" dirty="0" smtClean="0"/>
              <a:t>:</a:t>
            </a:r>
          </a:p>
          <a:p>
            <a:endParaRPr lang="pt-BR" sz="3600" dirty="0"/>
          </a:p>
          <a:p>
            <a:pPr marL="571500" indent="-571500">
              <a:buFont typeface="Arial" pitchFamily="34" charset="0"/>
              <a:buChar char="•"/>
            </a:pPr>
            <a:r>
              <a:rPr lang="pt-BR" sz="3600" dirty="0"/>
              <a:t>Comunicação.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pt-BR" sz="3600" dirty="0"/>
              <a:t>Contratação.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pt-BR" sz="3600" dirty="0"/>
              <a:t>Organização do cuidado.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548" y="2586167"/>
            <a:ext cx="2029952" cy="173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3;p2"/>
          <p:cNvSpPr txBox="1"/>
          <p:nvPr/>
        </p:nvSpPr>
        <p:spPr>
          <a:xfrm>
            <a:off x="1318792" y="8937714"/>
            <a:ext cx="8379726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pt-BR" sz="3600" dirty="0"/>
              <a:t>Ausência de plataforma organizada.</a:t>
            </a:r>
            <a:endParaRPr lang="pt-BR" sz="3600" dirty="0" smtClean="0"/>
          </a:p>
        </p:txBody>
      </p:sp>
    </p:spTree>
    <p:extLst>
      <p:ext uri="{BB962C8B-B14F-4D97-AF65-F5344CB8AC3E}">
        <p14:creationId xmlns:p14="http://schemas.microsoft.com/office/powerpoint/2010/main" val="410410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p2"/>
          <p:cNvSpPr txBox="1"/>
          <p:nvPr/>
        </p:nvSpPr>
        <p:spPr>
          <a:xfrm>
            <a:off x="1291996" y="2987606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 smtClean="0"/>
              <a:t>OBJETIVOS DO PROJETO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23;p2"/>
          <p:cNvSpPr txBox="1"/>
          <p:nvPr/>
        </p:nvSpPr>
        <p:spPr>
          <a:xfrm>
            <a:off x="1343066" y="5489848"/>
            <a:ext cx="18549281" cy="379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4800" b="1" dirty="0"/>
              <a:t>Desenvolver uma plataforma para facilitar</a:t>
            </a:r>
            <a:r>
              <a:rPr lang="pt-BR" sz="4800" b="1" dirty="0" smtClean="0"/>
              <a:t>:</a:t>
            </a:r>
          </a:p>
          <a:p>
            <a:endParaRPr lang="pt-BR" sz="4800" b="1" dirty="0"/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Conexão.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Gerenciamento.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Organização do cuidado.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4368" y="4202484"/>
            <a:ext cx="3952453" cy="402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895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;p2"/>
          <p:cNvSpPr txBox="1"/>
          <p:nvPr/>
        </p:nvSpPr>
        <p:spPr>
          <a:xfrm>
            <a:off x="1293653" y="3355450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/>
              <a:t>Objetivo geral</a:t>
            </a:r>
            <a:endParaRPr lang="pt-BR" sz="5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1293653" y="5705872"/>
            <a:ext cx="18549281" cy="379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Cadastro.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Busca.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Vínculo.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Medicamentos.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Comunicação.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44" y="4551388"/>
            <a:ext cx="3952453" cy="402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11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2"/>
          <p:cNvSpPr txBox="1"/>
          <p:nvPr/>
        </p:nvSpPr>
        <p:spPr>
          <a:xfrm>
            <a:off x="3911080" y="3185592"/>
            <a:ext cx="18549281" cy="84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4800" b="1" dirty="0" smtClean="0"/>
              <a:t>TECNOLOGIAS UTILIZADAS</a:t>
            </a:r>
            <a:endParaRPr lang="pt-BR"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6" name="Picture 2" descr="C:\Users\Junior\Downloads\intel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542" y="8970198"/>
            <a:ext cx="241935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Junior\Downloads\java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276" y="5247722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Junior\Downloads\JAV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692" y="8701842"/>
            <a:ext cx="1952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Junior\Downloads\JIR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2830" y="5506906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unior\Downloads\WORD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680" y="5165491"/>
            <a:ext cx="17430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Junior\Downloads\WINDOWS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856" y="5028917"/>
            <a:ext cx="201622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Junior\Downloads\GIT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0626" y="8864571"/>
            <a:ext cx="16192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841" y="3185592"/>
            <a:ext cx="1296144" cy="1058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 descr="C:\Users\Junior\Downloads\postgre (1)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242" y="5288384"/>
            <a:ext cx="21240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Junior\Downloads\Angular_gradient_logo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854" y="8705005"/>
            <a:ext cx="2016225" cy="20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Junior\Downloads\vs code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498" y="9030866"/>
            <a:ext cx="1270882" cy="127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06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91996" y="2987606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 smtClean="0"/>
              <a:t>METODOLOGIA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1291995" y="5057800"/>
            <a:ext cx="18549281" cy="3057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Levantamento de requisitos.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Entrevistas.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Análise.</a:t>
            </a:r>
          </a:p>
          <a:p>
            <a:pPr marL="685800" indent="-685800">
              <a:buFont typeface="Arial" pitchFamily="34" charset="0"/>
              <a:buChar char="•"/>
            </a:pPr>
            <a:r>
              <a:rPr lang="pt-BR" sz="4800" b="1" dirty="0"/>
              <a:t>Modelagem.</a:t>
            </a:r>
          </a:p>
        </p:txBody>
      </p:sp>
      <p:pic>
        <p:nvPicPr>
          <p:cNvPr id="2051" name="Picture 3" descr="C:\Users\Junior\Downloads\check list (1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2200" y="3862063"/>
            <a:ext cx="5396433" cy="63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2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6791400" y="2927942"/>
            <a:ext cx="10945216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 smtClean="0"/>
              <a:t>REQUISITOS FUNCIONAIS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1455034" y="5355123"/>
            <a:ext cx="18549281" cy="453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4800" b="1" dirty="0"/>
              <a:t>Módulo – Acesso e </a:t>
            </a:r>
            <a:r>
              <a:rPr lang="pt-BR" sz="4800" b="1" dirty="0" smtClean="0"/>
              <a:t>Conta</a:t>
            </a:r>
          </a:p>
          <a:p>
            <a:endParaRPr lang="pt-BR" sz="4800" b="1" dirty="0"/>
          </a:p>
          <a:p>
            <a:r>
              <a:rPr lang="pt-BR" sz="4800" b="1" dirty="0"/>
              <a:t>RF 1 – Cadastrar usuário</a:t>
            </a:r>
          </a:p>
          <a:p>
            <a:r>
              <a:rPr lang="pt-BR" sz="4800" b="1" dirty="0"/>
              <a:t>RF 2 – Realizar </a:t>
            </a:r>
            <a:r>
              <a:rPr lang="pt-BR" sz="4800" b="1" dirty="0" err="1"/>
              <a:t>login</a:t>
            </a:r>
            <a:r>
              <a:rPr lang="pt-BR" sz="4800" b="1" dirty="0"/>
              <a:t> no sistema</a:t>
            </a:r>
          </a:p>
          <a:p>
            <a:r>
              <a:rPr lang="pt-BR" sz="4800" b="1" dirty="0"/>
              <a:t>RF 8 – Gerenciar perfil</a:t>
            </a:r>
          </a:p>
          <a:p>
            <a:r>
              <a:rPr lang="pt-BR" sz="4800" b="1" dirty="0"/>
              <a:t>RF 11 – </a:t>
            </a:r>
            <a:r>
              <a:rPr lang="pt-BR" sz="4800" b="1" dirty="0" err="1"/>
              <a:t>Logout</a:t>
            </a:r>
            <a:endParaRPr lang="pt-BR" sz="48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700" y="2649316"/>
            <a:ext cx="1472935" cy="1448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83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6733230" y="3018731"/>
            <a:ext cx="11579450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 smtClean="0"/>
              <a:t>REQUISITOS FUNCIONAIS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1455034" y="5355124"/>
            <a:ext cx="18549281" cy="453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4800" b="1" dirty="0"/>
              <a:t>Módulo – Gestão de </a:t>
            </a:r>
            <a:r>
              <a:rPr lang="pt-BR" sz="4800" b="1" dirty="0" smtClean="0"/>
              <a:t>Cuidadores</a:t>
            </a:r>
          </a:p>
          <a:p>
            <a:endParaRPr lang="pt-BR" sz="4800" b="1" dirty="0"/>
          </a:p>
          <a:p>
            <a:r>
              <a:rPr lang="pt-BR" sz="4800" b="1" dirty="0"/>
              <a:t>RF 3 – Cadastrar perfil de cuidador</a:t>
            </a:r>
          </a:p>
          <a:p>
            <a:r>
              <a:rPr lang="pt-BR" sz="4800" b="1" dirty="0"/>
              <a:t>RF 4 – Buscar cuidadores</a:t>
            </a:r>
          </a:p>
          <a:p>
            <a:r>
              <a:rPr lang="pt-BR" sz="4800" b="1" dirty="0"/>
              <a:t>RF 5 – Visualizar perfil do cuidador</a:t>
            </a:r>
          </a:p>
          <a:p>
            <a:r>
              <a:rPr lang="pt-BR" sz="4800" b="1" dirty="0"/>
              <a:t>RF 6 – Avaliar cuidador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096" y="2777348"/>
            <a:ext cx="1440160" cy="141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711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6685572" y="3056504"/>
            <a:ext cx="12419196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 smtClean="0"/>
              <a:t>REQUISITOS FUNCIONAIS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23;p2"/>
          <p:cNvSpPr txBox="1"/>
          <p:nvPr/>
        </p:nvSpPr>
        <p:spPr>
          <a:xfrm>
            <a:off x="1443380" y="4553744"/>
            <a:ext cx="18549281" cy="6750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r>
              <a:rPr lang="pt-BR" sz="4800" b="1" dirty="0"/>
              <a:t>Módulo – Gestão de </a:t>
            </a:r>
            <a:r>
              <a:rPr lang="pt-BR" sz="4800" b="1" dirty="0" smtClean="0"/>
              <a:t>Relacionamento</a:t>
            </a:r>
            <a:br>
              <a:rPr lang="pt-BR" sz="4800" b="1" dirty="0" smtClean="0"/>
            </a:br>
            <a:endParaRPr lang="pt-BR" sz="4800" b="1" dirty="0"/>
          </a:p>
          <a:p>
            <a:r>
              <a:rPr lang="pt-BR" sz="4800" b="1" dirty="0"/>
              <a:t>RF 9 – Vincular cuidador ao idoso</a:t>
            </a:r>
          </a:p>
          <a:p>
            <a:r>
              <a:rPr lang="pt-BR" sz="4800" b="1" dirty="0"/>
              <a:t>RF 12 – Finalizar vínculo / contrato entre cuidador e </a:t>
            </a:r>
            <a:r>
              <a:rPr lang="pt-BR" sz="4800" b="1" dirty="0" smtClean="0"/>
              <a:t>idoso</a:t>
            </a:r>
            <a:br>
              <a:rPr lang="pt-BR" sz="4800" b="1" dirty="0" smtClean="0"/>
            </a:br>
            <a:r>
              <a:rPr lang="pt-BR" sz="4800" b="1" dirty="0" smtClean="0"/>
              <a:t/>
            </a:r>
            <a:br>
              <a:rPr lang="pt-BR" sz="4800" b="1" dirty="0" smtClean="0"/>
            </a:br>
            <a:r>
              <a:rPr lang="pt-BR" sz="4800" b="1" dirty="0"/>
              <a:t>Módulo – Gestão de </a:t>
            </a:r>
            <a:r>
              <a:rPr lang="pt-BR" sz="4800" b="1" dirty="0" smtClean="0"/>
              <a:t>Saúde</a:t>
            </a:r>
            <a:br>
              <a:rPr lang="pt-BR" sz="4800" b="1" dirty="0" smtClean="0"/>
            </a:br>
            <a:endParaRPr lang="pt-BR" sz="4800" b="1" dirty="0"/>
          </a:p>
          <a:p>
            <a:r>
              <a:rPr lang="pt-BR" sz="4800" b="1" dirty="0"/>
              <a:t>RF 10 – Gerenciar medicamentos</a:t>
            </a:r>
          </a:p>
          <a:p>
            <a:endParaRPr lang="pt-BR" sz="4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783" y="2681537"/>
            <a:ext cx="1432172" cy="140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04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2"/>
          <p:cNvSpPr txBox="1"/>
          <p:nvPr/>
        </p:nvSpPr>
        <p:spPr>
          <a:xfrm>
            <a:off x="1322377" y="2635877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dirty="0"/>
              <a:t>LEI GERAL DE PROTEÇÃO DE DADOS (LGPD)</a:t>
            </a:r>
            <a:endParaRPr lang="pt-BR" sz="5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23;p2"/>
          <p:cNvSpPr txBox="1"/>
          <p:nvPr/>
        </p:nvSpPr>
        <p:spPr>
          <a:xfrm>
            <a:off x="1291994" y="4020447"/>
            <a:ext cx="18549281" cy="1579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4800" dirty="0"/>
              <a:t>POLÍTICA E MECANISMOS DE CONFORMIDADE COM A LGPD (LEI Nº 13.709/2018)</a:t>
            </a:r>
            <a:endParaRPr lang="pt-BR" sz="48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23;p2"/>
          <p:cNvSpPr txBox="1"/>
          <p:nvPr/>
        </p:nvSpPr>
        <p:spPr>
          <a:xfrm>
            <a:off x="1291995" y="6353944"/>
            <a:ext cx="18549281" cy="52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dirty="0"/>
              <a:t>Consentimento Explícito (</a:t>
            </a:r>
            <a:r>
              <a:rPr lang="pt-BR" sz="4800" dirty="0" err="1"/>
              <a:t>Opt-in</a:t>
            </a:r>
            <a:r>
              <a:rPr lang="pt-BR" sz="4800" dirty="0"/>
              <a:t>):</a:t>
            </a:r>
          </a:p>
          <a:p>
            <a:pPr algn="just"/>
            <a:r>
              <a:rPr lang="pt-BR" sz="4800" dirty="0"/>
              <a:t>No momento do cadastro do usuário (seja responsável ou cuidador), haverá uma caixa de seleção obrigatória desmarcada por padrão, onde o usuário aceita explicitamente os Termos de Uso e a Política de Privacidade. O texto deixará claro que os dados de saúde do idoso (como prontuário de medicamentos) serão visualizados exclusivamente pelo cuidador formalmente vinculado</a:t>
            </a:r>
          </a:p>
        </p:txBody>
      </p:sp>
    </p:spTree>
    <p:extLst>
      <p:ext uri="{BB962C8B-B14F-4D97-AF65-F5344CB8AC3E}">
        <p14:creationId xmlns:p14="http://schemas.microsoft.com/office/powerpoint/2010/main" val="402299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88842" y="3689648"/>
            <a:ext cx="18549281" cy="601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dirty="0" err="1"/>
              <a:t>Anonimização</a:t>
            </a:r>
            <a:r>
              <a:rPr lang="pt-BR" sz="4800" dirty="0"/>
              <a:t> e Minimização de Dados</a:t>
            </a:r>
            <a:r>
              <a:rPr lang="pt-BR" sz="4800" dirty="0" smtClean="0"/>
              <a:t>:</a:t>
            </a:r>
            <a:br>
              <a:rPr lang="pt-BR" sz="4800" dirty="0" smtClean="0"/>
            </a:br>
            <a:endParaRPr lang="pt-BR" sz="4800" dirty="0"/>
          </a:p>
          <a:p>
            <a:pPr algn="just"/>
            <a:r>
              <a:rPr lang="pt-BR" sz="4800" dirty="0"/>
              <a:t>Serão coletados estritamente os dados necessários para o funcionamento do negócio. Dados de contato direto (como telefone e endereço exato) do cuidador e do familiar permanecerão ocultos durante a busca inicial na plataforma, sendo liberados somente após a abertura do canal de mensagens interna ou aceite mútuo de contratação. </a:t>
            </a:r>
          </a:p>
        </p:txBody>
      </p:sp>
    </p:spTree>
    <p:extLst>
      <p:ext uri="{BB962C8B-B14F-4D97-AF65-F5344CB8AC3E}">
        <p14:creationId xmlns:p14="http://schemas.microsoft.com/office/powerpoint/2010/main" val="150378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91996" y="4328428"/>
            <a:ext cx="18549281" cy="453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dirty="0"/>
              <a:t>Direito de Exclusão e Revogação (Direito ao Esquecimento</a:t>
            </a:r>
            <a:r>
              <a:rPr lang="pt-BR" sz="4800" dirty="0" smtClean="0"/>
              <a:t>):</a:t>
            </a:r>
          </a:p>
          <a:p>
            <a:pPr marL="685800" indent="-685800">
              <a:buFont typeface="Arial" pitchFamily="34" charset="0"/>
              <a:buChar char="•"/>
            </a:pPr>
            <a:endParaRPr lang="pt-BR" sz="4800" dirty="0"/>
          </a:p>
          <a:p>
            <a:pPr algn="just"/>
            <a:r>
              <a:rPr lang="pt-BR" sz="4800" dirty="0"/>
              <a:t>Através do caso de uso "Gerenciar Perfil", o usuário poderá solicitar a exclusão definitiva de sua conta. Ao confirmar a exclusão, o sistema executará uma rotina no banco </a:t>
            </a:r>
            <a:r>
              <a:rPr lang="pt-BR" sz="4800" dirty="0" err="1"/>
              <a:t>PostgreSQL</a:t>
            </a:r>
            <a:r>
              <a:rPr lang="pt-BR" sz="4800" dirty="0"/>
              <a:t> que apagará logicamente (e fisicamente após 30 dias</a:t>
            </a:r>
            <a:r>
              <a:rPr lang="pt-BR" sz="4800" dirty="0" smtClean="0"/>
              <a:t>).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48804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91996" y="4328429"/>
            <a:ext cx="18549281" cy="453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685800" indent="-685800">
              <a:buFont typeface="Arial" pitchFamily="34" charset="0"/>
              <a:buChar char="•"/>
            </a:pPr>
            <a:r>
              <a:rPr lang="pt-BR" sz="4800" dirty="0"/>
              <a:t>Segurança dos Dados de Saúde (Dados Sensíveis</a:t>
            </a:r>
            <a:r>
              <a:rPr lang="pt-BR" sz="4800" dirty="0" smtClean="0"/>
              <a:t>):</a:t>
            </a:r>
          </a:p>
          <a:p>
            <a:pPr marL="685800" indent="-685800">
              <a:buFont typeface="Arial" pitchFamily="34" charset="0"/>
              <a:buChar char="•"/>
            </a:pPr>
            <a:endParaRPr lang="pt-BR" sz="4800" dirty="0"/>
          </a:p>
          <a:p>
            <a:pPr algn="just"/>
            <a:r>
              <a:rPr lang="pt-BR" sz="4800" dirty="0"/>
              <a:t>O registro de medicamentos (nome, dose e frequência) é classificado juridicamente como dado de saúde (sensível). Esses registros trafegarão sob criptografia e sua persistência no banco contará com controle de acesso rígido.</a:t>
            </a:r>
          </a:p>
        </p:txBody>
      </p:sp>
    </p:spTree>
    <p:extLst>
      <p:ext uri="{BB962C8B-B14F-4D97-AF65-F5344CB8AC3E}">
        <p14:creationId xmlns:p14="http://schemas.microsoft.com/office/powerpoint/2010/main" val="374399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2"/>
          <p:cNvSpPr txBox="1"/>
          <p:nvPr/>
        </p:nvSpPr>
        <p:spPr>
          <a:xfrm>
            <a:off x="1265053" y="3139426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 DE CASO DE USO</a:t>
            </a:r>
            <a:endParaRPr lang="pt-BR" sz="5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23;p2"/>
          <p:cNvSpPr txBox="1"/>
          <p:nvPr/>
        </p:nvSpPr>
        <p:spPr>
          <a:xfrm>
            <a:off x="1246913" y="7650088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 DE PACOTE</a:t>
            </a:r>
            <a:endParaRPr lang="pt-BR" sz="5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2178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;p2"/>
          <p:cNvSpPr txBox="1"/>
          <p:nvPr/>
        </p:nvSpPr>
        <p:spPr>
          <a:xfrm>
            <a:off x="1265053" y="3139426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 DE CLASSES</a:t>
            </a:r>
            <a:endParaRPr lang="pt-BR" sz="5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23;p2"/>
          <p:cNvSpPr txBox="1"/>
          <p:nvPr/>
        </p:nvSpPr>
        <p:spPr>
          <a:xfrm>
            <a:off x="1246913" y="7724611"/>
            <a:ext cx="18549281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>
              <a:buSzPts val="4800"/>
            </a:pPr>
            <a:r>
              <a:rPr lang="pt-BR" sz="5400" b="1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DIAGRAMA DE SEQUÊNCIA</a:t>
            </a:r>
            <a:endParaRPr lang="pt-BR" sz="5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9959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41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1291996" y="3050184"/>
            <a:ext cx="18549281" cy="80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Texto texto</a:t>
            </a:r>
            <a:endParaRPr sz="4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1740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378</Words>
  <Application>Microsoft Office PowerPoint</Application>
  <PresentationFormat>Personalizar</PresentationFormat>
  <Paragraphs>78</Paragraphs>
  <Slides>19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Helvetica Neue Light</vt:lpstr>
      <vt:lpstr>Helvetica Neue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Junior</cp:lastModifiedBy>
  <cp:revision>13</cp:revision>
  <dcterms:modified xsi:type="dcterms:W3CDTF">2026-09-13T20:07:07Z</dcterms:modified>
</cp:coreProperties>
</file>