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68" r:id="rId4"/>
    <p:sldId id="265" r:id="rId5"/>
    <p:sldId id="267" r:id="rId6"/>
    <p:sldId id="266" r:id="rId7"/>
    <p:sldId id="264" r:id="rId8"/>
    <p:sldId id="263" r:id="rId9"/>
    <p:sldId id="269" r:id="rId10"/>
    <p:sldId id="270" r:id="rId11"/>
    <p:sldId id="271" r:id="rId12"/>
    <p:sldId id="262" r:id="rId13"/>
    <p:sldId id="261" r:id="rId14"/>
    <p:sldId id="260" r:id="rId15"/>
    <p:sldId id="272" r:id="rId16"/>
    <p:sldId id="258" r:id="rId17"/>
    <p:sldId id="273" r:id="rId18"/>
    <p:sldId id="259" r:id="rId19"/>
  </p:sldIdLst>
  <p:sldSz cx="24384000" cy="13716000"/>
  <p:notesSz cx="6858000" cy="9144000"/>
  <p:embeddedFontLst>
    <p:embeddedFont>
      <p:font typeface="Helvetica Neue" panose="020B0604020202020204" charset="0"/>
      <p:regular r:id="rId21"/>
      <p:bold r:id="rId22"/>
      <p:italic r:id="rId23"/>
      <p:boldItalic r:id="rId24"/>
    </p:embeddedFont>
    <p:embeddedFont>
      <p:font typeface="Helvetica Neue Light" panose="020B060402020202020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0" roundtripDataSignature="AMtx7mgZ84KggsQfQCuyVjL79bhoOGuyf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33" d="100"/>
          <a:sy n="33" d="100"/>
        </p:scale>
        <p:origin x="912" y="78"/>
      </p:cViewPr>
      <p:guideLst>
        <p:guide orient="horz" pos="4320"/>
        <p:guide pos="76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customschemas.google.com/relationships/presentationmetadata" Target="meta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200" b="0" i="0" u="none" strike="noStrike" cap="none"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60515734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">
  <p:cSld name="Título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4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 Branco" type="tx">
  <p:cSld name="TITLE_AND_BODY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5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>
            <a:spLocks noGrp="1"/>
          </p:cNvSpPr>
          <p:nvPr>
            <p:ph type="sldNum" idx="12"/>
          </p:nvPr>
        </p:nvSpPr>
        <p:spPr>
          <a:xfrm>
            <a:off x="11959031" y="13081000"/>
            <a:ext cx="453238" cy="461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  <p:pic>
        <p:nvPicPr>
          <p:cNvPr id="7" name="Google Shape;7;p3" descr="FAI_Faitec_2026_Imagem_PowerPoint conteudo.jp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1" descr="FAI_Faitec_2026_Imagem_PowerPoint capa.jp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 txBox="1">
            <a:spLocks noGrp="1"/>
          </p:cNvSpPr>
          <p:nvPr>
            <p:ph type="subTitle" idx="1"/>
          </p:nvPr>
        </p:nvSpPr>
        <p:spPr>
          <a:xfrm>
            <a:off x="2110880" y="9234264"/>
            <a:ext cx="6610034" cy="3045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635000" marR="0" lvl="0" indent="-635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  <a:buFont typeface="Helvetica Neue"/>
              <a:buChar char="•"/>
            </a:pPr>
            <a:r>
              <a:rPr lang="en-US" sz="4300" dirty="0">
                <a:latin typeface="Helvetica Neue"/>
                <a:ea typeface="Helvetica Neue"/>
                <a:cs typeface="Helvetica Neue"/>
                <a:sym typeface="Helvetica Neue"/>
              </a:rPr>
              <a:t>Elder Connect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br>
              <a:rPr lang="en-US" sz="43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</a:br>
            <a:r>
              <a:rPr lang="en-US" sz="4300" dirty="0">
                <a:latin typeface="Helvetica Neue"/>
                <a:ea typeface="Helvetica Neue"/>
                <a:cs typeface="Helvetica Neue"/>
                <a:sym typeface="Helvetica Neue"/>
              </a:rPr>
              <a:t>Bruno Eduardo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dirty="0">
                <a:latin typeface="Helvetica Neue"/>
                <a:sym typeface="Helvetica Neue"/>
              </a:rPr>
              <a:t>José Alfredo</a:t>
            </a:r>
          </a:p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75"/>
            </a:pPr>
            <a:r>
              <a:rPr lang="en-US" sz="4300" dirty="0">
                <a:latin typeface="Helvetica Neue"/>
                <a:sym typeface="Helvetica Neue"/>
              </a:rPr>
              <a:t>Marcela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303377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/>
              <a:t>Equipe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6745" y="4409729"/>
            <a:ext cx="5400600" cy="62484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16336" y="4409729"/>
            <a:ext cx="5496910" cy="62397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7544" y="4427209"/>
            <a:ext cx="5475165" cy="6230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8735616" y="2465512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PROBLEMA / OBJETIVO</a:t>
            </a:r>
            <a:endParaRPr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8723784" y="4409728"/>
            <a:ext cx="13530509" cy="5273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/>
              <a:t>O envelhecimento populacional aumentou.</a:t>
            </a:r>
          </a:p>
          <a:p>
            <a:pPr lvl="0">
              <a:buSzPts val="4800"/>
            </a:pPr>
            <a:endParaRPr lang="pt-BR" sz="4800" b="1" dirty="0"/>
          </a:p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/>
              <a:t>Famílias possuem dificuldade </a:t>
            </a:r>
          </a:p>
          <a:p>
            <a:pPr lvl="0">
              <a:buSzPts val="4800"/>
            </a:pPr>
            <a:r>
              <a:rPr lang="pt-BR" sz="4800" b="1" dirty="0"/>
              <a:t>em encontrar cuidadores.</a:t>
            </a:r>
          </a:p>
          <a:p>
            <a:pPr lvl="0">
              <a:buSzPts val="4800"/>
            </a:pPr>
            <a:endParaRPr lang="pt-BR" sz="4800" b="1" dirty="0"/>
          </a:p>
          <a:p>
            <a:pPr marL="685800" lvl="0" indent="-685800">
              <a:buSzPts val="4800"/>
              <a:buFont typeface="Arial" pitchFamily="34" charset="0"/>
              <a:buChar char="•"/>
            </a:pPr>
            <a:r>
              <a:rPr lang="pt-BR" sz="4800" b="1" dirty="0"/>
              <a:t>Elder Connect surge para conectar </a:t>
            </a:r>
          </a:p>
          <a:p>
            <a:pPr lvl="0">
              <a:buSzPts val="4800"/>
            </a:pPr>
            <a:r>
              <a:rPr lang="pt-BR" sz="4800" b="1" dirty="0"/>
              <a:t>cuidadores e responsáveis</a:t>
            </a:r>
            <a:r>
              <a:rPr lang="pt-BR" sz="4800" dirty="0"/>
              <a:t>.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04" y="2465512"/>
            <a:ext cx="6485894" cy="99371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0371934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7439472" y="2973378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PROBLEMA E HIPÓTESE</a:t>
            </a:r>
            <a:endParaRPr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3197437" y="6016744"/>
            <a:ext cx="5250147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/>
              <a:t>Problema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4089038" y="6016744"/>
            <a:ext cx="5250147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/>
              <a:t>Hipótese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5" name="Google Shape;23;p2"/>
          <p:cNvSpPr txBox="1"/>
          <p:nvPr/>
        </p:nvSpPr>
        <p:spPr>
          <a:xfrm>
            <a:off x="1318792" y="7896559"/>
            <a:ext cx="8379726" cy="1210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Dificuldade em encontrar cuidadores.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Falta de confiança.</a:t>
            </a:r>
          </a:p>
        </p:txBody>
      </p:sp>
      <p:sp>
        <p:nvSpPr>
          <p:cNvPr id="7" name="Google Shape;23;p2"/>
          <p:cNvSpPr txBox="1"/>
          <p:nvPr/>
        </p:nvSpPr>
        <p:spPr>
          <a:xfrm>
            <a:off x="12572742" y="7947855"/>
            <a:ext cx="8282740" cy="2872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3600" dirty="0"/>
              <a:t>Um sistema web pode melhorar:</a:t>
            </a:r>
          </a:p>
          <a:p>
            <a:endParaRPr lang="pt-BR" sz="3600" dirty="0"/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Comunicação.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Contratação.</a:t>
            </a:r>
          </a:p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Organização do cuidado.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1548" y="2586167"/>
            <a:ext cx="2029952" cy="17364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Google Shape;23;p2"/>
          <p:cNvSpPr txBox="1"/>
          <p:nvPr/>
        </p:nvSpPr>
        <p:spPr>
          <a:xfrm>
            <a:off x="1318792" y="8937714"/>
            <a:ext cx="8379726" cy="656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571500" indent="-571500">
              <a:buFont typeface="Arial" pitchFamily="34" charset="0"/>
              <a:buChar char="•"/>
            </a:pPr>
            <a:r>
              <a:rPr lang="pt-BR" sz="3600" dirty="0"/>
              <a:t>Ausência de plataforma organizada.</a:t>
            </a:r>
          </a:p>
        </p:txBody>
      </p:sp>
    </p:spTree>
    <p:extLst>
      <p:ext uri="{BB962C8B-B14F-4D97-AF65-F5344CB8AC3E}">
        <p14:creationId xmlns:p14="http://schemas.microsoft.com/office/powerpoint/2010/main" val="4104103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291996" y="2987606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OBJETIVOS DO PROJETO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343066" y="5489848"/>
            <a:ext cx="18549281" cy="3795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Desenvolver uma plataforma para facilitar:</a:t>
            </a:r>
          </a:p>
          <a:p>
            <a:endParaRPr lang="pt-BR" sz="4800" b="1" dirty="0"/>
          </a:p>
          <a:p>
            <a:r>
              <a:rPr lang="pt-BR" sz="4800" b="1" dirty="0"/>
              <a:t>Conexão.</a:t>
            </a:r>
          </a:p>
          <a:p>
            <a:r>
              <a:rPr lang="pt-BR" sz="4800" b="1" dirty="0"/>
              <a:t>Gerenciamento.</a:t>
            </a:r>
          </a:p>
          <a:p>
            <a:r>
              <a:rPr lang="pt-BR" sz="4800" b="1" dirty="0"/>
              <a:t>Organização do cuidado.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4368" y="4202484"/>
            <a:ext cx="3952453" cy="4027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2889580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3;p2"/>
          <p:cNvSpPr txBox="1"/>
          <p:nvPr/>
        </p:nvSpPr>
        <p:spPr>
          <a:xfrm>
            <a:off x="1293653" y="3355450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Objetivo geral</a:t>
            </a:r>
            <a:endParaRPr lang="pt-BR" sz="5400" b="1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293653" y="5705872"/>
            <a:ext cx="18549281" cy="3795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Cadastro.</a:t>
            </a:r>
          </a:p>
          <a:p>
            <a:r>
              <a:rPr lang="pt-BR" sz="4800" b="1" dirty="0"/>
              <a:t>Busca.</a:t>
            </a:r>
          </a:p>
          <a:p>
            <a:r>
              <a:rPr lang="pt-BR" sz="4800" b="1" dirty="0"/>
              <a:t>Vínculo.</a:t>
            </a:r>
          </a:p>
          <a:p>
            <a:r>
              <a:rPr lang="pt-BR" sz="4800" b="1" dirty="0"/>
              <a:t>Medicamentos.</a:t>
            </a:r>
          </a:p>
          <a:p>
            <a:r>
              <a:rPr lang="pt-BR" sz="4800" b="1" dirty="0"/>
              <a:t>Comunicação.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88344" y="4551388"/>
            <a:ext cx="3952453" cy="40277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616114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3911080" y="31855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/>
              <a:t>TECNOLOGIAS UTILIZADAS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1026" name="Picture 2" descr="C:\Users\Junior\Downloads\inteli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41804" y="9147128"/>
            <a:ext cx="2419350" cy="1609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Junior\Downloads\java2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45461" y="8919110"/>
            <a:ext cx="1752600" cy="175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Junior\Downloads\JAVA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9473" y="9116852"/>
            <a:ext cx="1952625" cy="1952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 descr="C:\Users\Junior\Downloads\JIRA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09445" y="5497328"/>
            <a:ext cx="135255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:\Users\Junior\Downloads\WORD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6676" y="5302066"/>
            <a:ext cx="17430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Picture 7" descr="C:\Users\Junior\Downloads\WINDOWS.png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8913" y="5115462"/>
            <a:ext cx="2016224" cy="2016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C:\Users\Junior\Downloads\GIT.png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2204" y="9137603"/>
            <a:ext cx="1619250" cy="1619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0841" y="3185592"/>
            <a:ext cx="1296144" cy="10580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590620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303377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1" dirty="0"/>
              <a:t>METODOLOGIA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64728" y="4813901"/>
            <a:ext cx="18549281" cy="3057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dirty="0"/>
              <a:t>Levantamento de requisitos.</a:t>
            </a:r>
          </a:p>
          <a:p>
            <a:r>
              <a:rPr lang="pt-BR" sz="4800" dirty="0"/>
              <a:t>Entrevistas.</a:t>
            </a:r>
          </a:p>
          <a:p>
            <a:r>
              <a:rPr lang="pt-BR" sz="4800" dirty="0"/>
              <a:t>Análise.</a:t>
            </a:r>
          </a:p>
          <a:p>
            <a:r>
              <a:rPr lang="pt-BR" sz="4800" dirty="0"/>
              <a:t>Modelagem.</a:t>
            </a:r>
          </a:p>
        </p:txBody>
      </p:sp>
    </p:spTree>
    <p:extLst>
      <p:ext uri="{BB962C8B-B14F-4D97-AF65-F5344CB8AC3E}">
        <p14:creationId xmlns:p14="http://schemas.microsoft.com/office/powerpoint/2010/main" val="1362129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791400" y="2512444"/>
            <a:ext cx="8352928" cy="1764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55034" y="5355123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Acesso e Conta</a:t>
            </a:r>
          </a:p>
          <a:p>
            <a:endParaRPr lang="pt-BR" sz="4800" b="1" dirty="0"/>
          </a:p>
          <a:p>
            <a:r>
              <a:rPr lang="pt-BR" sz="4800" b="1" dirty="0"/>
              <a:t>RF 1 – Cadastrar usuário</a:t>
            </a:r>
          </a:p>
          <a:p>
            <a:r>
              <a:rPr lang="pt-BR" sz="4800" b="1" dirty="0"/>
              <a:t>RF 2 – Realizar </a:t>
            </a:r>
            <a:r>
              <a:rPr lang="pt-BR" sz="4800" b="1" dirty="0" err="1"/>
              <a:t>login</a:t>
            </a:r>
            <a:r>
              <a:rPr lang="pt-BR" sz="4800" b="1" dirty="0"/>
              <a:t> no sistema</a:t>
            </a:r>
          </a:p>
          <a:p>
            <a:r>
              <a:rPr lang="pt-BR" sz="4800" b="1" dirty="0"/>
              <a:t>RF 8 – Gerenciar perfil</a:t>
            </a:r>
          </a:p>
          <a:p>
            <a:r>
              <a:rPr lang="pt-BR" sz="4800" b="1" dirty="0"/>
              <a:t>RF 11 – </a:t>
            </a:r>
            <a:r>
              <a:rPr lang="pt-BR" sz="4800" b="1" dirty="0" err="1"/>
              <a:t>Logout</a:t>
            </a:r>
            <a:endParaRPr lang="pt-BR" sz="4800" b="1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6700" y="2649316"/>
            <a:ext cx="1472935" cy="14485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6768305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733230" y="2603233"/>
            <a:ext cx="7992888" cy="1764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REQUISITOS FUNCIONAIS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55034" y="5355124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Gestão de Cuidadores</a:t>
            </a:r>
          </a:p>
          <a:p>
            <a:endParaRPr lang="pt-BR" sz="4800" b="1" dirty="0"/>
          </a:p>
          <a:p>
            <a:r>
              <a:rPr lang="pt-BR" sz="4800" b="1" dirty="0"/>
              <a:t>RF 3 – Cadastrar perfil de cuidador</a:t>
            </a:r>
          </a:p>
          <a:p>
            <a:r>
              <a:rPr lang="pt-BR" sz="4800" b="1" dirty="0"/>
              <a:t>RF 4 – Buscar cuidadores</a:t>
            </a:r>
          </a:p>
          <a:p>
            <a:r>
              <a:rPr lang="pt-BR" sz="4800" b="1" dirty="0"/>
              <a:t>RF 5 – Visualizar perfil do cuidador</a:t>
            </a:r>
          </a:p>
          <a:p>
            <a:r>
              <a:rPr lang="pt-BR" sz="4800" b="1" dirty="0"/>
              <a:t>RF 6 – Avaliar cuidador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096" y="2777348"/>
            <a:ext cx="1440160" cy="14163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47113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6685572" y="3133448"/>
            <a:ext cx="8064896" cy="779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400" b="1" dirty="0"/>
              <a:t>REQUISITOS FUNCIONAIS</a:t>
            </a:r>
            <a:endParaRPr lang="pt-BR" sz="4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3" name="Google Shape;23;p2"/>
          <p:cNvSpPr txBox="1"/>
          <p:nvPr/>
        </p:nvSpPr>
        <p:spPr>
          <a:xfrm>
            <a:off x="1443380" y="4553744"/>
            <a:ext cx="18549281" cy="6750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r>
              <a:rPr lang="pt-BR" sz="4800" b="1" dirty="0"/>
              <a:t>Módulo – Gestão de Relacionamento</a:t>
            </a:r>
            <a:br>
              <a:rPr lang="pt-BR" sz="4800" b="1" dirty="0"/>
            </a:br>
            <a:endParaRPr lang="pt-BR" sz="4800" b="1" dirty="0"/>
          </a:p>
          <a:p>
            <a:r>
              <a:rPr lang="pt-BR" sz="4800" b="1" dirty="0"/>
              <a:t>RF 9 – Vincular cuidador ao idoso</a:t>
            </a:r>
          </a:p>
          <a:p>
            <a:r>
              <a:rPr lang="pt-BR" sz="4800" b="1" dirty="0"/>
              <a:t>RF 12 – Finalizar vínculo / contrato entre cuidador e idoso</a:t>
            </a:r>
            <a:br>
              <a:rPr lang="pt-BR" sz="4800" b="1" dirty="0"/>
            </a:br>
            <a:br>
              <a:rPr lang="pt-BR" sz="4800" b="1" dirty="0"/>
            </a:br>
            <a:r>
              <a:rPr lang="pt-BR" sz="4800" b="1" dirty="0"/>
              <a:t>Módulo – Gestão de Saúde</a:t>
            </a:r>
            <a:br>
              <a:rPr lang="pt-BR" sz="4800" b="1" dirty="0"/>
            </a:br>
            <a:endParaRPr lang="pt-BR" sz="4800" b="1" dirty="0"/>
          </a:p>
          <a:p>
            <a:r>
              <a:rPr lang="pt-BR" sz="4800" b="1" dirty="0"/>
              <a:t>RF 10 – Gerenciar medicamentos</a:t>
            </a:r>
          </a:p>
          <a:p>
            <a:endParaRPr lang="pt-BR" sz="4800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90783" y="2681537"/>
            <a:ext cx="1432172" cy="14085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7304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322377" y="2635877"/>
            <a:ext cx="18549281" cy="933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5400" b="1" dirty="0"/>
              <a:t>LEI GERAL DE PROTEÇÃO DE DADOS (LGPD)</a:t>
            </a:r>
            <a:endParaRPr lang="pt-BR" sz="54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4" name="Google Shape;23;p2"/>
          <p:cNvSpPr txBox="1"/>
          <p:nvPr/>
        </p:nvSpPr>
        <p:spPr>
          <a:xfrm>
            <a:off x="1291994" y="4020447"/>
            <a:ext cx="18549281" cy="1579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dirty="0"/>
              <a:t>POLÍTICA E MECANISMOS DE CONFORMIDADE COM A LGPD (LEI Nº 13.709/2018)</a:t>
            </a:r>
            <a:endParaRPr lang="pt-BR"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6" name="Google Shape;23;p2"/>
          <p:cNvSpPr txBox="1"/>
          <p:nvPr/>
        </p:nvSpPr>
        <p:spPr>
          <a:xfrm>
            <a:off x="1291995" y="6353944"/>
            <a:ext cx="18549281" cy="5273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Consentimento Explícito (</a:t>
            </a:r>
            <a:r>
              <a:rPr lang="pt-BR" sz="4800" dirty="0" err="1"/>
              <a:t>Opt-in</a:t>
            </a:r>
            <a:r>
              <a:rPr lang="pt-BR" sz="4800" dirty="0"/>
              <a:t>):</a:t>
            </a:r>
          </a:p>
          <a:p>
            <a:pPr algn="just"/>
            <a:r>
              <a:rPr lang="pt-BR" sz="4800" dirty="0"/>
              <a:t>No momento do cadastro do usuário (seja responsável ou cuidador), haverá uma caixa de seleção obrigatória desmarcada por padrão, onde o usuário aceita explicitamente os Termos de Uso e a Política de Privacidade. O texto deixará claro que os dados de saúde do idoso (como prontuário de medicamentos) serão visualizados exclusivamente pelo cuidador formalmente vinculado</a:t>
            </a:r>
          </a:p>
        </p:txBody>
      </p:sp>
    </p:spTree>
    <p:extLst>
      <p:ext uri="{BB962C8B-B14F-4D97-AF65-F5344CB8AC3E}">
        <p14:creationId xmlns:p14="http://schemas.microsoft.com/office/powerpoint/2010/main" val="40229996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88842" y="3689648"/>
            <a:ext cx="18549281" cy="6011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 err="1"/>
              <a:t>Anonimização</a:t>
            </a:r>
            <a:r>
              <a:rPr lang="pt-BR" sz="4800" dirty="0"/>
              <a:t> e Minimização de Dados:</a:t>
            </a:r>
            <a:br>
              <a:rPr lang="pt-BR" sz="4800" dirty="0"/>
            </a:br>
            <a:endParaRPr lang="pt-BR" sz="4800" dirty="0"/>
          </a:p>
          <a:p>
            <a:pPr algn="just"/>
            <a:r>
              <a:rPr lang="pt-BR" sz="4800" dirty="0"/>
              <a:t>Serão coletados estritamente os dados necessários para o funcionamento do negócio. Dados de contato direto (como telefone e endereço exato) do cuidador e do familiar permanecerão ocultos durante a busca inicial na plataforma, sendo liberados somente após a abertura do canal de mensagens interna ou aceite mútuo de contratação. </a:t>
            </a:r>
          </a:p>
        </p:txBody>
      </p:sp>
    </p:spTree>
    <p:extLst>
      <p:ext uri="{BB962C8B-B14F-4D97-AF65-F5344CB8AC3E}">
        <p14:creationId xmlns:p14="http://schemas.microsoft.com/office/powerpoint/2010/main" val="15037810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4328428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Direito de Exclusão e Revogação (Direito ao Esquecimento):</a:t>
            </a:r>
          </a:p>
          <a:p>
            <a:pPr marL="685800" indent="-685800">
              <a:buFont typeface="Arial" pitchFamily="34" charset="0"/>
              <a:buChar char="•"/>
            </a:pPr>
            <a:endParaRPr lang="pt-BR" sz="4800" dirty="0"/>
          </a:p>
          <a:p>
            <a:pPr algn="just"/>
            <a:r>
              <a:rPr lang="pt-BR" sz="4800" dirty="0"/>
              <a:t>Através do caso de uso "Gerenciar Perfil", o usuário poderá solicitar a exclusão definitiva de sua conta. Ao confirmar a exclusão, o sistema executará uma rotina no banco </a:t>
            </a:r>
            <a:r>
              <a:rPr lang="pt-BR" sz="4800" dirty="0" err="1"/>
              <a:t>PostgreSQL</a:t>
            </a:r>
            <a:r>
              <a:rPr lang="pt-BR" sz="4800" dirty="0"/>
              <a:t> que apagará logicamente (e fisicamente após 30 dias).</a:t>
            </a:r>
          </a:p>
        </p:txBody>
      </p:sp>
    </p:spTree>
    <p:extLst>
      <p:ext uri="{BB962C8B-B14F-4D97-AF65-F5344CB8AC3E}">
        <p14:creationId xmlns:p14="http://schemas.microsoft.com/office/powerpoint/2010/main" val="34880473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4328429"/>
            <a:ext cx="18549281" cy="45345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685800" indent="-685800">
              <a:buFont typeface="Arial" pitchFamily="34" charset="0"/>
              <a:buChar char="•"/>
            </a:pPr>
            <a:r>
              <a:rPr lang="pt-BR" sz="4800" dirty="0"/>
              <a:t>Segurança dos Dados de Saúde (Dados Sensíveis):</a:t>
            </a:r>
          </a:p>
          <a:p>
            <a:pPr marL="685800" indent="-685800">
              <a:buFont typeface="Arial" pitchFamily="34" charset="0"/>
              <a:buChar char="•"/>
            </a:pPr>
            <a:endParaRPr lang="pt-BR" sz="4800" dirty="0"/>
          </a:p>
          <a:p>
            <a:pPr algn="just"/>
            <a:r>
              <a:rPr lang="pt-BR" sz="4800" dirty="0"/>
              <a:t>O registro de medicamentos (nome, dose e frequência) é classificado juridicamente como dado de saúde (sensível). Esses registros trafegarão sob criptografia e sua persistência no banco contará com controle de acesso rígido.</a:t>
            </a:r>
          </a:p>
        </p:txBody>
      </p:sp>
    </p:spTree>
    <p:extLst>
      <p:ext uri="{BB962C8B-B14F-4D97-AF65-F5344CB8AC3E}">
        <p14:creationId xmlns:p14="http://schemas.microsoft.com/office/powerpoint/2010/main" val="3743999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265053" y="31855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DIAGRAMA DE CASO DE USO</a:t>
            </a:r>
          </a:p>
        </p:txBody>
      </p:sp>
      <p:sp>
        <p:nvSpPr>
          <p:cNvPr id="4" name="Google Shape;23;p2"/>
          <p:cNvSpPr txBox="1"/>
          <p:nvPr/>
        </p:nvSpPr>
        <p:spPr>
          <a:xfrm>
            <a:off x="1246913" y="67859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DIAGRAMA DE PACOTE</a:t>
            </a:r>
          </a:p>
        </p:txBody>
      </p:sp>
    </p:spTree>
    <p:extLst>
      <p:ext uri="{BB962C8B-B14F-4D97-AF65-F5344CB8AC3E}">
        <p14:creationId xmlns:p14="http://schemas.microsoft.com/office/powerpoint/2010/main" val="1021786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23;p2"/>
          <p:cNvSpPr txBox="1"/>
          <p:nvPr/>
        </p:nvSpPr>
        <p:spPr>
          <a:xfrm>
            <a:off x="1265053" y="31855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DIAGRAMA DE CLASSES</a:t>
            </a:r>
          </a:p>
        </p:txBody>
      </p:sp>
      <p:sp>
        <p:nvSpPr>
          <p:cNvPr id="4" name="Google Shape;23;p2"/>
          <p:cNvSpPr txBox="1"/>
          <p:nvPr/>
        </p:nvSpPr>
        <p:spPr>
          <a:xfrm>
            <a:off x="1246913" y="678599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>
              <a:buSzPts val="4800"/>
            </a:pPr>
            <a:r>
              <a:rPr lang="pt-BR" sz="4800" b="0" i="0" u="none" strike="noStrike" cap="none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DIAGRAMA DE SEQUÊNCIA</a:t>
            </a:r>
          </a:p>
        </p:txBody>
      </p:sp>
    </p:spTree>
    <p:extLst>
      <p:ext uri="{BB962C8B-B14F-4D97-AF65-F5344CB8AC3E}">
        <p14:creationId xmlns:p14="http://schemas.microsoft.com/office/powerpoint/2010/main" val="3599598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"/>
          <p:cNvSpPr txBox="1"/>
          <p:nvPr/>
        </p:nvSpPr>
        <p:spPr>
          <a:xfrm>
            <a:off x="1291996" y="3033772"/>
            <a:ext cx="18549281" cy="8412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r>
              <a:rPr lang="en-US" sz="4800" dirty="0">
                <a:latin typeface="Helvetica Neue"/>
                <a:ea typeface="Helvetica Neue"/>
                <a:cs typeface="Helvetica Neue"/>
                <a:sym typeface="Helvetica Neue"/>
              </a:rPr>
              <a:t>DEMONSTRAÇÃO DO PROJETO</a:t>
            </a:r>
            <a:endParaRPr sz="4800" b="0" i="0" u="none" strike="noStrike" cap="none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917402897"/>
      </p:ext>
    </p:extLst>
  </p:cSld>
  <p:clrMapOvr>
    <a:masterClrMapping/>
  </p:clrMapOvr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472</Words>
  <Application>Microsoft Office PowerPoint</Application>
  <PresentationFormat>Personalizar</PresentationFormat>
  <Paragraphs>78</Paragraphs>
  <Slides>18</Slides>
  <Notes>15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2" baseType="lpstr">
      <vt:lpstr>Helvetica Neue</vt:lpstr>
      <vt:lpstr>Helvetica Neue Light</vt:lpstr>
      <vt:lpstr>Arial</vt:lpstr>
      <vt:lpstr>White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cp:lastModifiedBy>marcela rezende</cp:lastModifiedBy>
  <cp:revision>11</cp:revision>
  <dcterms:modified xsi:type="dcterms:W3CDTF">2026-09-18T19:38:03Z</dcterms:modified>
</cp:coreProperties>
</file>